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4472C4"/>
            </a:solidFill>
            <a:ln w="25400" cap="flat">
              <a:solidFill>
                <a:srgbClr val="4472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472C4"/>
              </a:solidFill>
              <a:ln w="9525" cap="flat">
                <a:solidFill>
                  <a:srgbClr val="4472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610</c:v>
                </c:pt>
                <c:pt idx="2">
                  <c:v>740</c:v>
                </c:pt>
                <c:pt idx="3">
                  <c:v>900</c:v>
                </c:pt>
                <c:pt idx="4">
                  <c:v>1090</c:v>
                </c:pt>
                <c:pt idx="5">
                  <c:v>1320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中央値</c:v>
                </c:pt>
              </c:strCache>
            </c:strRef>
          </c:tx>
          <c:spPr>
            <a:solidFill>
              <a:srgbClr val="1F497D"/>
            </a:solidFill>
            <a:ln w="254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500</c:v>
                </c:pt>
                <c:pt idx="1">
                  <c:v>540</c:v>
                </c:pt>
                <c:pt idx="2">
                  <c:v>583</c:v>
                </c:pt>
                <c:pt idx="3">
                  <c:v>630</c:v>
                </c:pt>
                <c:pt idx="4">
                  <c:v>680</c:v>
                </c:pt>
                <c:pt idx="5">
                  <c:v>735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C00000"/>
            </a:solidFill>
            <a:ln w="25400" cap="flat">
              <a:solidFill>
                <a:srgbClr val="C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0000"/>
              </a:solidFill>
              <a:ln w="9525" cap="flat">
                <a:solidFill>
                  <a:srgbClr val="C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500</c:v>
                </c:pt>
                <c:pt idx="1">
                  <c:v>480</c:v>
                </c:pt>
                <c:pt idx="2">
                  <c:v>460</c:v>
                </c:pt>
                <c:pt idx="3">
                  <c:v>440</c:v>
                </c:pt>
                <c:pt idx="4">
                  <c:v>420</c:v>
                </c:pt>
                <c:pt idx="5">
                  <c:v>400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"/>
          <c:min val="30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一時払い保険</c:v>
                </c:pt>
              </c:strCache>
            </c:strRef>
          </c:tx>
          <c:spPr>
            <a:solidFill>
              <a:srgbClr val="1F497D"/>
            </a:solidFill>
            <a:ln w="38100" cap="flat">
              <a:solidFill>
                <a:srgbClr val="1F497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97D"/>
              </a:solidFill>
              <a:ln w="9525" cap="flat">
                <a:solidFill>
                  <a:srgbClr val="1F497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500</c:v>
                </c:pt>
                <c:pt idx="1">
                  <c:v>541</c:v>
                </c:pt>
                <c:pt idx="2">
                  <c:v>584</c:v>
                </c:pt>
                <c:pt idx="3">
                  <c:v>631</c:v>
                </c:pt>
                <c:pt idx="4">
                  <c:v>682</c:v>
                </c:pt>
                <c:pt idx="5">
                  <c:v>735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45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216152"/>
            <a:ext cx="8046720" cy="194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一時払い保険とNISAの賢い使い分け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355848"/>
            <a:ext cx="8046720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同じ金額・同じ10年。何が違う？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560320" y="4325112"/>
            <a:ext cx="4023360" cy="0"/>
          </a:xfrm>
          <a:prstGeom prst="line">
            <a:avLst/>
          </a:prstGeom>
          <a:noFill/>
          <a:ln w="12700">
            <a:solidFill>
              <a:srgbClr val="447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4507992"/>
            <a:ext cx="219456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45079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B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講師名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4507992"/>
            <a:ext cx="219456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45079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BB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今日わかること　3つ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527048"/>
            <a:ext cx="8229600" cy="1161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27048"/>
            <a:ext cx="795528" cy="11612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27048"/>
            <a:ext cx="795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1591056"/>
            <a:ext cx="713232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なぜ今、ドル資産を持つべきか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990088"/>
            <a:ext cx="8229600" cy="1161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990088"/>
            <a:ext cx="795528" cy="11612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90088"/>
            <a:ext cx="795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054096"/>
            <a:ext cx="713232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一時払い保険とNISA、何が同じで何が違うか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4453128"/>
            <a:ext cx="8229600" cy="1161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453128"/>
            <a:ext cx="795528" cy="11612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453128"/>
            <a:ext cx="795528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517136"/>
            <a:ext cx="713232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あなたの状況に合った使い分け方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こんな気持ち、ありませんか？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399032"/>
            <a:ext cx="8229600" cy="164592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99032"/>
            <a:ext cx="182880" cy="164592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463040"/>
            <a:ext cx="7680960" cy="1527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「子どもの学費が最優先…でも老後もそろそろ心配。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どうすればいいの？」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8229600" cy="1216152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3291840"/>
            <a:ext cx="182880" cy="1216152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35584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「NISAって今から間に合うの？　損したら怖い…」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4754880"/>
            <a:ext cx="8229600" cy="6675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75488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今日のセミナーで「やることが見えた」状態にします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50代でも、まだ30〜40年ある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0080" y="3026664"/>
            <a:ext cx="7863840" cy="73152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344" y="2852928"/>
            <a:ext cx="457200" cy="457200"/>
          </a:xfrm>
          <a:prstGeom prst="ellipse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40〜50代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54603" y="2852928"/>
            <a:ext cx="457200" cy="457200"/>
          </a:xfrm>
          <a:prstGeom prst="ellipse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79699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65歳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老後スタート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64224" y="2852928"/>
            <a:ext cx="457200" cy="45720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9320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80代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330184" y="2852928"/>
            <a:ext cx="457200" cy="457200"/>
          </a:xfrm>
          <a:prstGeom prst="ellipse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3447288"/>
            <a:ext cx="109728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90代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063240"/>
            <a:ext cx="5897880" cy="0"/>
          </a:xfrm>
          <a:prstGeom prst="rect">
            <a:avLst/>
          </a:prstGeom>
          <a:solidFill>
            <a:srgbClr val="1F497D"/>
          </a:solidFill>
          <a:ln w="38100">
            <a:solidFill>
              <a:srgbClr val="1F497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389120"/>
            <a:ext cx="7315200" cy="1033272"/>
          </a:xfrm>
          <a:prstGeom prst="rect">
            <a:avLst/>
          </a:prstGeom>
          <a:solidFill>
            <a:srgbClr val="FFF2CC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389120"/>
            <a:ext cx="18288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4453128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「時間がない」のではなく「時間の使い方を変える」タイミング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円高か円安か、誰にもわからない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344168"/>
            <a:ext cx="3291840" cy="4270248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44168"/>
            <a:ext cx="3291840" cy="61264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44168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円高になったら？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075688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円資産が有利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日本円で持っていると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購買力が上がる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40680" y="1344168"/>
            <a:ext cx="3291840" cy="4270248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40680" y="1344168"/>
            <a:ext cx="3291840" cy="612648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0" y="1344168"/>
            <a:ext cx="32918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円安になったら？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577840" y="2075688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外貨資産が有利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円建て資産の価値が</a:t>
            </a:r>
            <a:endParaRPr lang="en-US" sz="16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目減りする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749040" y="2258568"/>
            <a:ext cx="1600200" cy="182880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2258568"/>
            <a:ext cx="1600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「両方持つ」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＝分散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日本は輸入大国。円安は生活を直撃する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399032"/>
            <a:ext cx="1920240" cy="182880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食料・エネルギー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・部品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2011680"/>
            <a:ext cx="256032" cy="47548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201168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42032" y="1399032"/>
            <a:ext cx="1920240" cy="1828800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外貨（ドル）で購入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62272" y="2011680"/>
            <a:ext cx="256032" cy="47548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62272" y="201168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18304" y="1399032"/>
            <a:ext cx="1920240" cy="1828800"/>
          </a:xfrm>
          <a:prstGeom prst="rect">
            <a:avLst/>
          </a:prstGeom>
          <a:solidFill>
            <a:srgbClr val="C0000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円安になると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コスト上昇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38544" y="2011680"/>
            <a:ext cx="256032" cy="47548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8544" y="201168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94576" y="1399032"/>
            <a:ext cx="1920240" cy="1828800"/>
          </a:xfrm>
          <a:prstGeom prst="rect">
            <a:avLst/>
          </a:prstGeom>
          <a:solidFill>
            <a:srgbClr val="7B101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94576" y="1399032"/>
            <a:ext cx="1920240" cy="182880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物価上昇・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生活費増加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776472"/>
            <a:ext cx="8366760" cy="170992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3776472"/>
            <a:ext cx="128016" cy="1709928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" y="3840480"/>
            <a:ext cx="8046720" cy="1581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だからこそ、資産の一部を外貨で持つことが「生活の守り」になる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今日紹介する一時払い保険もNISA（オルカン）も、どちらもドル建て・外貨資産として機能する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NISAとは？　1枚で整理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44168"/>
            <a:ext cx="1371600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44168"/>
            <a:ext cx="1371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口座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0" y="1463040"/>
            <a:ext cx="649224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運用益に税金ゼロ　（通常は利益の約20%が税金）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172968"/>
            <a:ext cx="256032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3172968"/>
            <a:ext cx="2560320" cy="6675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172968"/>
            <a:ext cx="2560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毎月積立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904488"/>
            <a:ext cx="2560320" cy="2313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少額から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コツコツ積立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3246120" y="3172968"/>
            <a:ext cx="256032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3172968"/>
            <a:ext cx="2560320" cy="6675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46120" y="3172968"/>
            <a:ext cx="2560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長期運用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3904488"/>
            <a:ext cx="2560320" cy="2313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最長20年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非課税で保有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35040" y="3172968"/>
            <a:ext cx="256032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3172968"/>
            <a:ext cx="2560320" cy="6675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172968"/>
            <a:ext cx="2560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世界分散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（オルカン）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904488"/>
            <a:ext cx="2560320" cy="2313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全世界株式に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自動分散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NISA（オルカン）の特徴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280160"/>
            <a:ext cx="260604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約8%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1148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想定利率（年率）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280160"/>
            <a:ext cx="260604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10年後（目安）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500万→750万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8932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1280160"/>
            <a:ext cx="260604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ブレあり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98932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大きく上下する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可能性がある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3904488"/>
          <a:ext cx="8321040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一時払い保険とは？　1枚で整理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560320" cy="3904488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463040"/>
            <a:ext cx="2560320" cy="390448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まとまった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一括払い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108960" y="3044952"/>
            <a:ext cx="320040" cy="6675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0" y="3044952"/>
            <a:ext cx="320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560320" cy="390448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463040"/>
            <a:ext cx="2560320" cy="390448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ドルで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複利運用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89320" y="3044952"/>
            <a:ext cx="320040" cy="6675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89320" y="3044952"/>
            <a:ext cx="320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309360" y="1463040"/>
            <a:ext cx="2560320" cy="3904488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463040"/>
            <a:ext cx="2560320" cy="3904488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解約返戻金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として受取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（確実に増える）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8092440" cy="667512"/>
          </a:xfrm>
          <a:prstGeom prst="rect">
            <a:avLst/>
          </a:prstGeom>
          <a:solidFill>
            <a:srgbClr val="FFF2CC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5669280"/>
            <a:ext cx="8092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「保険」という名前がついているが、今日は「増やす手段」として考える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一時払い保険（ドル建て）の特徴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11480" y="1280160"/>
            <a:ext cx="260604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1148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利率（年率）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280160"/>
            <a:ext cx="260604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1.5倍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0040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10年後（確実）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500万→750万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89320" y="1280160"/>
            <a:ext cx="2606040" cy="2441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1280160"/>
            <a:ext cx="2606040" cy="548640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1828800"/>
            <a:ext cx="260604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ブレなし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989320" y="3044952"/>
            <a:ext cx="2606040" cy="667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確実に増える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安心の右肩上がり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" y="3904488"/>
          <a:ext cx="8321040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どちらも10年で1.5倍。違いは「ブレ」だけ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4142232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一時払い保険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NISA（つみたて）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9E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97D"/>
                          </a:solidFill>
                        </a:rPr>
                        <a:t>利回り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97D"/>
                          </a:solidFill>
                        </a:rPr>
                        <a:t>約4%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5E9E"/>
                          </a:solidFill>
                        </a:rPr>
                        <a:t>約8%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97D"/>
                          </a:solidFill>
                        </a:rPr>
                        <a:t>10年後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97D"/>
                          </a:solidFill>
                        </a:rPr>
                        <a:t>約1.5倍（確実）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5E9E"/>
                          </a:solidFill>
                        </a:rPr>
                        <a:t>約1.5倍（目安）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97D"/>
                          </a:solidFill>
                        </a:rPr>
                        <a:t>ブレ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97D"/>
                          </a:solidFill>
                        </a:rPr>
                        <a:t>なし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0000"/>
                          </a:solidFill>
                        </a:rPr>
                        <a:t>あり（大きく）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497D"/>
                          </a:solidFill>
                        </a:rPr>
                        <a:t>流動性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6666"/>
                          </a:solidFill>
                        </a:rPr>
                        <a:t>低い（途中解約は損）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66666"/>
                          </a:solidFill>
                        </a:rPr>
                        <a:t>高い（いつでも売れる）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669280"/>
            <a:ext cx="8229600" cy="79552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5669280"/>
            <a:ext cx="82296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「そのお金、減ったら困りますか？」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7840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実際に動かしてみましょう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914400" y="2377440"/>
            <a:ext cx="7315200" cy="19476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77440"/>
            <a:ext cx="7315200" cy="194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500万円・10年</a:t>
            </a:r>
            <a:endParaRPr lang="en-US" sz="2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2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 4%  vs  NISA 8%  で比べると…？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0" y="4636008"/>
            <a:ext cx="4572000" cy="85039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4636008"/>
            <a:ext cx="4572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　シミュレーター　デモ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使い分けの判断は、この一問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「そのお金、10年後に減っていたら困りますか？」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3172968"/>
            <a:ext cx="3931920" cy="329184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3172968"/>
            <a:ext cx="3931920" cy="61264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172968"/>
            <a:ext cx="3931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YES（困る）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3931920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ブレない 1.5倍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54880" y="3172968"/>
            <a:ext cx="3931920" cy="329184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3172968"/>
            <a:ext cx="3931920" cy="6126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3172968"/>
            <a:ext cx="3931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NO（大丈夫）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3931920" cy="2441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2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0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ブレても待てる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一時払い保険の入り方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44168"/>
            <a:ext cx="850392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44168"/>
            <a:ext cx="850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463040" y="1408176"/>
            <a:ext cx="70408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期間は10年 or 20年で固定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1929384"/>
            <a:ext cx="704088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使わない自信がある期間を選ぶ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「10年は使わない」なら10年。「20年大丈夫」なら20年。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90088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990088"/>
            <a:ext cx="850392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990088"/>
            <a:ext cx="850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63040" y="3054096"/>
            <a:ext cx="70408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長いほど有利な利率が多い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575304"/>
            <a:ext cx="704088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20年の方が10年より高い利率が設定されていることが一般的。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長く固定する価値がある。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4636008"/>
            <a:ext cx="82296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4636008"/>
            <a:ext cx="850392" cy="14630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636008"/>
            <a:ext cx="850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E4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463040" y="4700016"/>
            <a:ext cx="7040880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不利になったら乗り換えでもOK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5221224"/>
            <a:ext cx="7040880" cy="7955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途中解約は「市場価格調整」が発生する場合あり。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それでも条件が良ければ乗り換えを検討してよい。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500万円を入れたら？</a:t>
            </a:r>
            <a:endParaRPr lang="en-US" sz="2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44168"/>
          <a:ext cx="8229600" cy="4142232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10年後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20年後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97D"/>
                          </a:solidFill>
                        </a:rPr>
                        <a:t>一時払い保険（4%）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497D"/>
                          </a:solidFill>
                        </a:rPr>
                        <a:t>約750万円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497D"/>
                          </a:solidFill>
                        </a:rPr>
                        <a:t>＋250万円増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497D"/>
                          </a:solidFill>
                        </a:rPr>
                        <a:t>約1,095万円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497D"/>
                          </a:solidFill>
                        </a:rPr>
                        <a:t>＋595万円増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5E9E"/>
                          </a:solidFill>
                        </a:rPr>
                        <a:t>NISA 中央値（8%）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5E9E"/>
                          </a:solidFill>
                        </a:rPr>
                        <a:t>約750万円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5E9E"/>
                          </a:solidFill>
                        </a:rPr>
                        <a:t>（元本360万円）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5E9E"/>
                          </a:solidFill>
                        </a:rPr>
                        <a:t>約1,764万円</a:t>
                      </a:r>
                      <a:endParaRPr lang="en-US" sz="1800" dirty="0"/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5E9E"/>
                          </a:solidFill>
                        </a:rPr>
                        <a:t>（元本720万円）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33288"/>
            <a:ext cx="822960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NISAは積立総額＝保険元本と同額の条件で試算　／　NISAの実際の成果は大きくブレます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ケースA　子どもが大学生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8229600" cy="20116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92808"/>
            <a:ext cx="182880" cy="201168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47672"/>
            <a:ext cx="7680960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状況：学費の総額がほぼ見えてきた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残り期間は1〜4年。ゴールが近い。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問：学費を払い終えた後、いくら残る？　それをどう老後に活かす？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ケースA　結論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47548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お金に余裕がある方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保険で確実に増やし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「使い始める」計画を立てる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・老後の旅行・医療費・リフォーム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・減らしたくないお金は保険へ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・NISAは余裕資金として並行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47548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お金が足りない方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覚悟を持って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NISAで増やすフェーズ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・勉強して始める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・少額でもOK、まず動く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・ブレを受け入れる覚悟が必要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ケースB　子どもが中学生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B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8229600" cy="20116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92808"/>
            <a:ext cx="182880" cy="2011680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47672"/>
            <a:ext cx="7680960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状況：進路がまだ読めない。でも時間はある（5〜10年）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文系か理系か、どの大学か、まだわからない。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この期間をどう使うかが、老後を左右する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「奨学金」は借金ではなく、武器になる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840480" cy="182880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2801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奨学金の上限金利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（第二種）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280160"/>
            <a:ext cx="3840480" cy="182880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63440" y="12801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最長20年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237744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返済可能期間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355848"/>
            <a:ext cx="2514600" cy="2441448"/>
          </a:xfrm>
          <a:prstGeom prst="rect">
            <a:avLst/>
          </a:prstGeom>
          <a:solidFill>
            <a:srgbClr val="1F497D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3355848"/>
            <a:ext cx="2514600" cy="244144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子が奨学金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で借りる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（〜3%）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71800" y="4270248"/>
            <a:ext cx="301752" cy="58521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4270248"/>
            <a:ext cx="301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73552" y="3355848"/>
            <a:ext cx="2514600" cy="244144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273552" y="3355848"/>
            <a:ext cx="2514600" cy="244144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親はその分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保険・NISA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で運用（4〜8%）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88152" y="4270248"/>
            <a:ext cx="301752" cy="585216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88152" y="4270248"/>
            <a:ext cx="30175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89904" y="3355848"/>
            <a:ext cx="2514600" cy="2441448"/>
          </a:xfrm>
          <a:prstGeom prst="rect">
            <a:avLst/>
          </a:prstGeom>
          <a:solidFill>
            <a:srgbClr val="FF660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089904" y="3355848"/>
            <a:ext cx="2514600" cy="2441448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利率の差額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が家族の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利益になる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998464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5E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子どもにNISAを覚えさせ、奨学金返済資金として積み立てる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ケースB　結論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B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47548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お金に余裕がある方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老後・夫死後まで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しっかり試算する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・長期保険（20年）も選択肢に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・NISAも並行して余裕資金に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・「意外とお金がいる」を早めに認識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47548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お金が足りない方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保険に入れすぎない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流動性を確保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・末子8歳以下なら10年保険で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大学費用の土台を確実に準備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・子にNISAを覚えさせ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奨学金返済資金として活用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78408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あなたのケースで動かしてみましょう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377440"/>
            <a:ext cx="8183880" cy="10332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2377440"/>
            <a:ext cx="100584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377440"/>
            <a:ext cx="1005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2377440"/>
            <a:ext cx="685800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1,000万円・20年で保険に入れたら？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8183880" cy="10332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3657600"/>
            <a:ext cx="100584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1005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3657600"/>
            <a:ext cx="685800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500万円・10年の保険 vs NISA比較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937760"/>
            <a:ext cx="8183880" cy="1033272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937760"/>
            <a:ext cx="1005840" cy="103327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937760"/>
            <a:ext cx="10058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C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937760"/>
            <a:ext cx="6858000" cy="10332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月5万円・20年のNISA積立は？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0" y="6217920"/>
            <a:ext cx="4572000" cy="36576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0" y="6217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　シミュレーター　デモ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ケースC　子どもが社会人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92808"/>
            <a:ext cx="8229600" cy="20116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92808"/>
            <a:ext cx="182880" cy="201168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947672"/>
            <a:ext cx="7680960" cy="1892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状況：学費の心配がなくなった。資産形成のフルパワー期</a:t>
            </a:r>
            <a:endParaRPr lang="en-US" sz="18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今まで学費に使っていたお金が丸ごと老後資金に回せる。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06240"/>
            <a:ext cx="8229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このタイミングを逃さないことが最重要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ケースC　結論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43584"/>
            <a:ext cx="14630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CASE C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475488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お金に余裕がある方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「使う」ことも視野に入れる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・老後の旅行・リフォームの計画を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・使わないお金は長期保険で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今の利率を固定する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・NISAも並行してフル活用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4754880"/>
          </a:xfrm>
          <a:prstGeom prst="rect">
            <a:avLst/>
          </a:prstGeom>
          <a:solidFill>
            <a:srgbClr val="E2EFDA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1887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お金が足りない方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828800"/>
            <a:ext cx="37490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とにかく急いで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NISAを始める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・フルパワーで積み立てる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・長く働く＝最強の老後対策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・65歳→70歳の差は数百万円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まとめ：あなたはどのケース？</a:t>
            </a:r>
            <a:endParaRPr lang="en-US" sz="2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44168"/>
          <a:ext cx="8229600" cy="5001768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お金に余裕がある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お金が足りない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E9E"/>
                    </a:solidFill>
                  </a:tcPr>
                </a:tc>
              </a:tr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497D"/>
                          </a:solidFill>
                        </a:rPr>
                        <a:t>A 大学生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497D"/>
                          </a:solidFill>
                        </a:rPr>
                        <a:t>保険で増やし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497D"/>
                          </a:solidFill>
                        </a:rPr>
                        <a:t>使い始める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覚悟を持って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NISA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5E9E"/>
                          </a:solidFill>
                        </a:rPr>
                        <a:t>B 中学生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497D"/>
                          </a:solidFill>
                        </a:rPr>
                        <a:t>老後まで試算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497D"/>
                          </a:solidFill>
                        </a:rPr>
                        <a:t>長期保険＋NISA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奨学金活用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流動性確保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612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4472C4"/>
                          </a:solidFill>
                        </a:rPr>
                        <a:t>C 社会人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497D"/>
                          </a:solidFill>
                        </a:rPr>
                        <a:t>使う計画＋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497D"/>
                          </a:solidFill>
                        </a:rPr>
                        <a:t>長期保険で固定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NISA全力</a:t>
                      </a:r>
                      <a:endParaRPr lang="en-US" sz="1300" dirty="0"/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</a:rPr>
                        <a:t>長く働く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おまけ：保険はもうひとつ「得」がある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57200" y="1344168"/>
            <a:ext cx="8229600" cy="2560320"/>
          </a:xfrm>
          <a:prstGeom prst="rect">
            <a:avLst/>
          </a:prstGeom>
          <a:solidFill>
            <a:srgbClr val="DCE6F1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44168"/>
            <a:ext cx="182880" cy="2560320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399032"/>
            <a:ext cx="7680960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死亡保険金の非課税枠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2075688"/>
            <a:ext cx="7680960" cy="8503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× 法定相続人の数  まで非課税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95528" y="3044952"/>
            <a:ext cx="768096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例：相続人3人 → 1,500万円まで相続税ゼロ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270248"/>
            <a:ext cx="8229600" cy="1581912"/>
          </a:xfrm>
          <a:prstGeom prst="rect">
            <a:avLst/>
          </a:prstGeom>
          <a:solidFill>
            <a:srgbClr val="1F497D"/>
          </a:solidFill>
          <a:ln w="12700">
            <a:solidFill>
              <a:srgbClr val="1F497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4270248"/>
            <a:ext cx="182880" cy="15819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4325112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「増やす」＋「万一のとき非課税で渡せる」</a:t>
            </a:r>
            <a:endParaRPr lang="en-US" sz="19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一時払い保険は二重においしい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46888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NISAはひとりでできる。</a:t>
            </a:r>
            <a:endParaRPr lang="en-US" sz="3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保険は違う。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2377440"/>
            <a:ext cx="3840480" cy="280720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2377440"/>
            <a:ext cx="3840480" cy="61264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77440"/>
            <a:ext cx="3840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NISA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044952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口座開設して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積立設定するだけ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ひとりでOK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937760" y="2377440"/>
            <a:ext cx="3840480" cy="280720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2377440"/>
            <a:ext cx="3840480" cy="612648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377440"/>
            <a:ext cx="38404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一時払い保険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3044952"/>
            <a:ext cx="3840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商品・期間・金額は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あなたの状況次第</a:t>
            </a:r>
            <a:endParaRPr lang="en-US" sz="16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相談相手が必要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5486400"/>
            <a:ext cx="7315200" cy="950976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486400"/>
            <a:ext cx="73152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「その相談相手、いますか？」</a:t>
            </a:r>
            <a:endParaRPr lang="en-US" sz="2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020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46888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本日の特典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399032"/>
            <a:ext cx="3840480" cy="427024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99032"/>
            <a:ext cx="3840480" cy="667512"/>
          </a:xfrm>
          <a:prstGeom prst="rect">
            <a:avLst/>
          </a:prstGeom>
          <a:solidFill>
            <a:srgbClr val="FF6600"/>
          </a:solidFill>
          <a:ln w="12700">
            <a:solidFill>
              <a:srgbClr val="FF66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399032"/>
            <a:ext cx="3840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0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特典①　シミュレーター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30552"/>
            <a:ext cx="3840480" cy="3410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自分の数字で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「保険 vs NISA」を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試せるWebアプリ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hoken-nisa-hikaku.netlify.app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37760" y="1399032"/>
            <a:ext cx="3840480" cy="4270248"/>
          </a:xfrm>
          <a:prstGeom prst="rect">
            <a:avLst/>
          </a:prstGeom>
          <a:solidFill>
            <a:srgbClr val="2E5E9E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37760" y="1399032"/>
            <a:ext cx="3840480" cy="66751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399032"/>
            <a:ext cx="38404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特典②　個別相談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2130552"/>
            <a:ext cx="3840480" cy="3410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あなたの状況で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「どうすればいい？」を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一緒に考えます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無料・30分</a:t>
            </a:r>
            <a:endParaRPr lang="en-US" sz="15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申込フォームをチャットに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5971032"/>
            <a:ext cx="7315200" cy="612648"/>
          </a:xfrm>
          <a:prstGeom prst="rect">
            <a:avLst/>
          </a:prstGeom>
          <a:solidFill>
            <a:srgbClr val="2E5E9E"/>
          </a:solidFill>
          <a:ln w="12700">
            <a:solidFill>
              <a:srgbClr val="2E5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971032"/>
            <a:ext cx="73152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E4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本日はご参加いただき、ありがとうございました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0" y="6739128"/>
            <a:ext cx="9144000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一時払い保険とNISAの賢い使い分け</dc:title>
  <dc:subject>PptxGenJS Presentation</dc:subject>
  <dc:creator>PptxGenJS</dc:creator>
  <cp:lastModifiedBy>PptxGenJS</cp:lastModifiedBy>
  <cp:revision>1</cp:revision>
  <dcterms:created xsi:type="dcterms:W3CDTF">2026-04-30T02:48:23Z</dcterms:created>
  <dcterms:modified xsi:type="dcterms:W3CDTF">2026-04-30T02:48:23Z</dcterms:modified>
</cp:coreProperties>
</file>