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4472C4"/>
            </a:solidFill>
            <a:ln w="25400" cap="flat">
              <a:solidFill>
                <a:srgbClr val="4472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472C4"/>
              </a:solidFill>
              <a:ln w="9525" cap="flat">
                <a:solidFill>
                  <a:srgbClr val="4472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610</c:v>
                </c:pt>
                <c:pt idx="2">
                  <c:v>740</c:v>
                </c:pt>
                <c:pt idx="3">
                  <c:v>900</c:v>
                </c:pt>
                <c:pt idx="4">
                  <c:v>1090</c:v>
                </c:pt>
                <c:pt idx="5">
                  <c:v>1320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中央値</c:v>
                </c:pt>
              </c:strCache>
            </c:strRef>
          </c:tx>
          <c:spPr>
            <a:solidFill>
              <a:srgbClr val="1F497D"/>
            </a:solidFill>
            <a:ln w="254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500</c:v>
                </c:pt>
                <c:pt idx="1">
                  <c:v>540</c:v>
                </c:pt>
                <c:pt idx="2">
                  <c:v>583</c:v>
                </c:pt>
                <c:pt idx="3">
                  <c:v>630</c:v>
                </c:pt>
                <c:pt idx="4">
                  <c:v>680</c:v>
                </c:pt>
                <c:pt idx="5">
                  <c:v>735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500</c:v>
                </c:pt>
                <c:pt idx="1">
                  <c:v>480</c:v>
                </c:pt>
                <c:pt idx="2">
                  <c:v>460</c:v>
                </c:pt>
                <c:pt idx="3">
                  <c:v>440</c:v>
                </c:pt>
                <c:pt idx="4">
                  <c:v>420</c:v>
                </c:pt>
                <c:pt idx="5">
                  <c:v>400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  <c:min val="3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一時払い保険</c:v>
                </c:pt>
              </c:strCache>
            </c:strRef>
          </c:tx>
          <c:spPr>
            <a:solidFill>
              <a:srgbClr val="1F497D"/>
            </a:solidFill>
            <a:ln w="381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541</c:v>
                </c:pt>
                <c:pt idx="2">
                  <c:v>584</c:v>
                </c:pt>
                <c:pt idx="3">
                  <c:v>631</c:v>
                </c:pt>
                <c:pt idx="4">
                  <c:v>682</c:v>
                </c:pt>
                <c:pt idx="5">
                  <c:v>735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45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216152"/>
            <a:ext cx="804672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賢い使い分け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55848"/>
            <a:ext cx="804672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同じ金額・同じ10年。何</a:t>
            </a:r>
            <a:pPr algn="ctr" indent="0" marL="0">
              <a:buNone/>
            </a:pPr>
            <a:r>
              <a:rPr lang="en-US" sz="40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44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違う？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2560320" y="4325112"/>
            <a:ext cx="4023360" cy="0"/>
          </a:xfrm>
          <a:prstGeom prst="line">
            <a:avLst/>
          </a:prstGeom>
          <a:noFill/>
          <a:ln w="12700">
            <a:solidFill>
              <a:srgbClr val="447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507992"/>
            <a:ext cx="219456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45079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ABB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講師名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54880" y="4507992"/>
            <a:ext cx="219456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45079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ABB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今日わかるこ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2704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2704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2704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17320" y="159105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なぜ今、ドル資産を持つべきか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99008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9008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305409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一時払い保険とNISA、何が同じで何が違うか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45312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45312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417320" y="451713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あなたの状況に合った使い分け方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こんな気持ち、ありませんか？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99032"/>
            <a:ext cx="8229600" cy="164592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99032"/>
            <a:ext cx="182880" cy="164592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463040"/>
            <a:ext cx="7680960" cy="1527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「子ど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学費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最優先…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そろそろ心配。</a:t>
            </a:r>
            <a:pPr indent="0" marL="0">
              <a:lnSpc>
                <a:spcPct val="150000"/>
              </a:lnSpc>
              <a:buNone/>
            </a:pPr>
            <a:endParaRPr lang="en-US" sz="3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どうすればいい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？」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216152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3291840"/>
            <a:ext cx="182880" cy="1216152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35584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「NISAって今</a:t>
            </a:r>
            <a:pPr indent="0" marL="0">
              <a:buNone/>
            </a:pPr>
            <a:r>
              <a:rPr lang="en-US" sz="28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indent="0" marL="0">
              <a:buNone/>
            </a:pPr>
            <a:r>
              <a:rPr lang="en-US" sz="32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</a:t>
            </a:r>
            <a:pPr indent="0" marL="0">
              <a:buNone/>
            </a:pPr>
            <a:r>
              <a:rPr lang="en-US" sz="28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buNone/>
            </a:pPr>
            <a:r>
              <a:rPr lang="en-US" sz="32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</a:t>
            </a:r>
            <a:pPr indent="0" marL="0">
              <a:buNone/>
            </a:pPr>
            <a:r>
              <a:rPr lang="en-US" sz="28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32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　損したら怖い…」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57200" y="4754880"/>
            <a:ext cx="822960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75488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今日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セミナー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るこ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見えた」状態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50代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、まだ30〜40年ある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3026664"/>
            <a:ext cx="7863840" cy="7315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344" y="2852928"/>
            <a:ext cx="457200" cy="457200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40〜50代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54603" y="2852928"/>
            <a:ext cx="457200" cy="457200"/>
          </a:xfrm>
          <a:prstGeom prst="ellipse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79699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老後スタート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64224" y="2852928"/>
            <a:ext cx="457200" cy="45720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330184" y="2852928"/>
            <a:ext cx="457200" cy="457200"/>
          </a:xfrm>
          <a:prstGeom prst="ellipse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90代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40080" y="3063240"/>
            <a:ext cx="5897880" cy="0"/>
          </a:xfrm>
          <a:prstGeom prst="rect">
            <a:avLst/>
          </a:prstGeom>
          <a:solidFill>
            <a:srgbClr val="1F497D"/>
          </a:solidFill>
          <a:ln w="38100">
            <a:solidFill>
              <a:srgbClr val="1F49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389120"/>
            <a:ext cx="7315200" cy="1033272"/>
          </a:xfrm>
          <a:prstGeom prst="rect">
            <a:avLst/>
          </a:prstGeom>
          <a:solidFill>
            <a:srgbClr val="FFF2CC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89120"/>
            <a:ext cx="18288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4453128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「時間がない」のではなく「時間の使い方を変える」タイミング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円高か円安か、誰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44168"/>
            <a:ext cx="3291840" cy="4270248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44168"/>
            <a:ext cx="3291840" cy="61264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4416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円高になったら？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075688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円資産が有利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日本円で持っていると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購買力が上がる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40680" y="1344168"/>
            <a:ext cx="3291840" cy="4270248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1344168"/>
            <a:ext cx="3291840" cy="612648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134416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円安になったら？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577840" y="2075688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外貨資産が有利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円建て資産の価値が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目減りする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749040" y="2258568"/>
            <a:ext cx="1600200" cy="182880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258568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「両方持つ」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＝分散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輸入大国。円安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直撃する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99032"/>
            <a:ext cx="192024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食料・エネルギー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・部品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542032" y="1399032"/>
            <a:ext cx="1920240" cy="1828800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外貨（ドル）で購入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62272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718304" y="1399032"/>
            <a:ext cx="1920240" cy="1828800"/>
          </a:xfrm>
          <a:prstGeom prst="rect">
            <a:avLst/>
          </a:prstGeom>
          <a:solidFill>
            <a:srgbClr val="C0000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円安になると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コスト上昇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638544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8544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894576" y="1399032"/>
            <a:ext cx="1920240" cy="1828800"/>
          </a:xfrm>
          <a:prstGeom prst="rect">
            <a:avLst/>
          </a:prstGeom>
          <a:solidFill>
            <a:srgbClr val="7B101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94576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物価上昇・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生活費増加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65760" y="3776472"/>
            <a:ext cx="8366760" cy="170992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776472"/>
            <a:ext cx="128016" cy="170992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" y="3840480"/>
            <a:ext cx="804672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だからこそ、資産の一部を外貨で持つことが「生活の守り」になる</a:t>
            </a: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今日紹介する一時払い保険もNISA（オルカン）も、どちらもドル建て・外貨資産として機能する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　1枚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1371600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44168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011680" y="1463040"/>
            <a:ext cx="649224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運用益</a:t>
            </a:r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税金ゼロ　（通常</a:t>
            </a:r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</a:t>
            </a:r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約20%</a:t>
            </a:r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税金）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720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毎月積立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少額から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コツコツ積立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24612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長期運用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24612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最長20年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非課税で保有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03504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世界分散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（オルカン）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3504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全世界株式に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自動分散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NISA（オルカン）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想定利率（年率）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280160"/>
            <a:ext cx="260604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20040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10年後（目安）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98932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1280160"/>
            <a:ext cx="260604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ブレあり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598932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大きく上下する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</a:t>
            </a:r>
            <a:endParaRPr lang="en-US" sz="28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3904488"/>
          <a:ext cx="8321040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　1枚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904488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まとまった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一括払い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108960" y="3044952"/>
            <a:ext cx="32004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0" y="3044952"/>
            <a:ext cx="320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390448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ドルで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複利運用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989320" y="3044952"/>
            <a:ext cx="32004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3044952"/>
            <a:ext cx="320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2560320" cy="3904488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解約返戻金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として受取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（確実に増える）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8092440" cy="667512"/>
          </a:xfrm>
          <a:prstGeom prst="rect">
            <a:avLst/>
          </a:prstGeom>
          <a:solidFill>
            <a:srgbClr val="FFF2CC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669280"/>
            <a:ext cx="8092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「保険」という名前がついているが、今日は「増やす手段」として考える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一時払い保険（ドル建て）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利率（年率）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20040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10年後（確実）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98932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1280160"/>
            <a:ext cx="260604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ブレなし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598932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確実に増える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安心の右肩上がり</a:t>
            </a:r>
            <a:endParaRPr lang="en-US" sz="28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3904488"/>
          <a:ext cx="8321040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1.5倍。違い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「ブレ」だけ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4142232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一時払い保険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NISA（つみたて）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9E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利回り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約4%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約8%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10年後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約1.5倍（確実）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E5E9E"/>
                          </a:solidFill>
                        </a:rPr>
                        <a:t>約1.5倍（目安）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ブレ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なし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C00000"/>
                          </a:solidFill>
                        </a:rPr>
                        <a:t>あり（大きく）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流動性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666666"/>
                          </a:solidFill>
                        </a:rPr>
                        <a:t>低い（途中解約は損）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666666"/>
                          </a:solidFill>
                        </a:rPr>
                        <a:t>高い（いつでも売れる）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669280"/>
            <a:ext cx="8229600" cy="79552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5669280"/>
            <a:ext cx="82296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お金、減ったら困りますか？」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7840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動かしてみましょう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2377440"/>
            <a:ext cx="7315200" cy="19476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731520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</a:t>
            </a:r>
            <a:pPr algn="ctr" indent="0" marL="0">
              <a:lnSpc>
                <a:spcPct val="15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 4%  vs  NISA 8%  </a:t>
            </a:r>
            <a:pPr algn="ctr" indent="0" marL="0">
              <a:lnSpc>
                <a:spcPct val="150000"/>
              </a:lnSpc>
              <a:buNone/>
            </a:pPr>
            <a:r>
              <a:rPr lang="en-US" sz="40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lnSpc>
                <a:spcPct val="150000"/>
              </a:lnSpc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比べる</a:t>
            </a:r>
            <a:pPr algn="ctr" indent="0" marL="0">
              <a:lnSpc>
                <a:spcPct val="150000"/>
              </a:lnSpc>
              <a:buNone/>
            </a:pPr>
            <a:r>
              <a:rPr lang="en-US" sz="40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lnSpc>
                <a:spcPct val="150000"/>
              </a:lnSpc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…？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2286000" y="4636008"/>
            <a:ext cx="4572000" cy="8503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4636008"/>
            <a:ext cx="4572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使い分け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、こ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</a:t>
            </a:r>
            <a:pPr algn="ctr" indent="0" marL="0">
              <a:buNone/>
            </a:pPr>
            <a:r>
              <a:rPr lang="en-US" sz="40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お金、10年後</a:t>
            </a:r>
            <a:pPr algn="ctr" indent="0" marL="0">
              <a:buNone/>
            </a:pPr>
            <a:r>
              <a:rPr lang="en-US" sz="40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減っていたら困りますか？」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57200" y="3172968"/>
            <a:ext cx="3931920" cy="329184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3172968"/>
            <a:ext cx="3931920" cy="61264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172968"/>
            <a:ext cx="3931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YES（困る）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3931920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pPr algn="ctr" indent="0" marL="0">
              <a:lnSpc>
                <a:spcPct val="15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ブレない 1.5倍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754880" y="3172968"/>
            <a:ext cx="3931920" cy="329184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3172968"/>
            <a:ext cx="3931920" cy="6126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3172968"/>
            <a:ext cx="3931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NO（大丈夫）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3931920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algn="ctr" indent="0" marL="0">
              <a:lnSpc>
                <a:spcPct val="15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ブレて</a:t>
            </a:r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待てる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入り方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4416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463040" y="140817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期間は10年 or 20年で固定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63040" y="192938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使わない自信がある期間を選ぶ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「10年は使わない」なら10年。「20年大丈夫」なら20年。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299008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99008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9008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463040" y="305409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長いほど有利な利率が多い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63040" y="357530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20年の方が10年より高い利率が設定されていることが一般的。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長く固定する価値がある。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57200" y="463600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463600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3600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463040" y="470001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不利になったら乗り換えでもOK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463040" y="522122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途中解約は「市場価格調整」が発生する場合あり。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それでも条件が良ければ乗り換えを検討してよい。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入れたら？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44168"/>
          <a:ext cx="8229600" cy="4142232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10年後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20年後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一時払い保険（4%）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約750万円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＋250万円増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約1,095万円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＋595万円増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NISA 中央値（8%）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約750万円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（元本360万円）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約1,764万円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（元本720万円）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33288"/>
            <a:ext cx="822960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NISAは積立総額＝保険元本と同額の条件で試算　／　NISAの実際の成果は大きくブレます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子ど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状況：学費の総額がほぼ見えてきた</a:t>
            </a: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残り期間は1〜4年。ゴールが近い。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問：学費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払い終えた後、いくら残る？　それ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どう老後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活かす？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余裕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ある方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「使い始める」計画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立てる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旅行・医療費・リフォーム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・減らしたくないお金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余裕資金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並行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足りない方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覚悟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持って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すフェーズ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・勉強して始める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・少額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OK、まず動く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・ブレ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受け入れる覚悟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子ど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状況：進路がまだ読めない。でも時間はある（5〜10年）</a:t>
            </a: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文系か理系か、どの大学か、まだわからない。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この期間をどう使うかが、老後を左右する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「奨学金」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借金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なく、武器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84048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801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上限3%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奨学金の上限金利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（第二種）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384048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12801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最長20年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63440" y="23774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返済可能期間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3355848"/>
            <a:ext cx="2514600" cy="2441448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子が奨学金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で借りる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（〜3%）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971800" y="4270248"/>
            <a:ext cx="301752" cy="5852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4270248"/>
            <a:ext cx="301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273552" y="3355848"/>
            <a:ext cx="2514600" cy="24414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親はその分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保険・NISA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で運用（4〜8%）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5788152" y="4270248"/>
            <a:ext cx="301752" cy="5852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88152" y="4270248"/>
            <a:ext cx="301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6089904" y="3355848"/>
            <a:ext cx="2514600" cy="2441448"/>
          </a:xfrm>
          <a:prstGeom prst="rect">
            <a:avLst/>
          </a:prstGeom>
          <a:solidFill>
            <a:srgbClr val="FF660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9904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利率の差額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が家族の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利益になる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59984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子どもにNISAを覚えさせ、奨学金返済資金として積み立てる</a:t>
            </a:r>
            <a:endParaRPr lang="en-US" sz="2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余裕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ある方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老後・夫死後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しっかり試算する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・長期保険（20年）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並行して余裕資金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・「意外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いる」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認識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足りない方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入れすぎない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流動性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確保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・末子8歳以下なら10年保険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大学費用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土台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・子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覚えさせ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奨学金返済資金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7840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動かしてみましょう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37744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37744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00200" y="237744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1,000万円・20年で保険に入れたら？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365760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00200" y="365760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500万円・10年の保険 vs NISA比較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93776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93776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C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600200" y="493776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月5万円・20年のNISA積立は？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2286000" y="6217920"/>
            <a:ext cx="4572000" cy="3657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6217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子ど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C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状況：学費の心配がなくなった。資産形成のフルパワー期</a:t>
            </a: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今まで学費に使っていたお金が丸ごと老後資金に回せる。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このタイミングを逃さないことが最重要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C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余裕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ある方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「使う」こ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視野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旅行・リフォーム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・使わないお金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長期保険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今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固定する</a:t>
            </a:r>
            <a:pPr indent="0" marL="0">
              <a:lnSpc>
                <a:spcPct val="150000"/>
              </a:lnSpc>
              <a:buNone/>
            </a:pPr>
            <a:endParaRPr lang="en-US" sz="2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並行してフル活用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足りない方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かく急い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</a:t>
            </a:r>
            <a:pPr indent="0" marL="0">
              <a:lnSpc>
                <a:spcPct val="150000"/>
              </a:lnSpc>
              <a:buNone/>
            </a:pP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・フルパワー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積み立てる</a:t>
            </a:r>
            <a:pPr indent="0" marL="0">
              <a:lnSpc>
                <a:spcPct val="150000"/>
              </a:lnSpc>
              <a:buNone/>
            </a:pP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・長く働く＝最強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老後対策</a:t>
            </a:r>
            <a:pPr indent="0" marL="0">
              <a:lnSpc>
                <a:spcPct val="150000"/>
              </a:lnSpc>
              <a:buNone/>
            </a:pP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・65歳→70歳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</a:t>
            </a:r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数百万円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め：あなた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ケース？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44168"/>
          <a:ext cx="8229600" cy="5001768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お金に余裕がある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</a:rPr>
                        <a:t>お金が足りない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9E"/>
                    </a:solidFill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497D"/>
                          </a:solidFill>
                        </a:rPr>
                        <a:t>A 大学生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保険で増やし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使い始める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覚悟を持って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NISA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2E5E9E"/>
                          </a:solidFill>
                        </a:rPr>
                        <a:t>B 中学生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老後まで試算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長期保険＋NISA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奨学金活用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流動性確保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4472C4"/>
                          </a:solidFill>
                        </a:rPr>
                        <a:t>C 社会人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使う計画＋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1F497D"/>
                          </a:solidFill>
                        </a:rPr>
                        <a:t>長期保険で固定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NISA全力</a:t>
                      </a:r>
                      <a:endParaRPr lang="en-US" sz="2800" dirty="0"/>
                    </a:p>
                    <a:p>
                      <a:pPr algn="ctr" indent="0" marL="0">
                        <a:buNone/>
                      </a:pPr>
                      <a:r>
                        <a:rPr lang="en-US" sz="2800" dirty="0">
                          <a:solidFill>
                            <a:srgbClr val="2D2D2D"/>
                          </a:solidFill>
                        </a:rPr>
                        <a:t>長く働く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おまけ：保険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うひ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つ「得」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256032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182880" cy="256032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399032"/>
            <a:ext cx="768096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死亡保険金の非課税枠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95528" y="2075688"/>
            <a:ext cx="76809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× 法定相続人</a:t>
            </a:r>
            <a:pPr indent="0" marL="0">
              <a:buNone/>
            </a:pPr>
            <a:r>
              <a:rPr lang="en-US" sz="4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  </a:t>
            </a:r>
            <a:pPr indent="0" marL="0">
              <a:buNone/>
            </a:pPr>
            <a:r>
              <a:rPr lang="en-US" sz="4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</a:t>
            </a:r>
            <a:pPr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95528" y="3044952"/>
            <a:ext cx="768096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例：相続人3人 → 1,500万円まで相続税ゼロ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4270248"/>
            <a:ext cx="8229600" cy="15819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4270248"/>
            <a:ext cx="182880" cy="15819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4325112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「増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す」＋「万一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き非課税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渡せる」</a:t>
            </a:r>
            <a:pPr indent="0" marL="0">
              <a:lnSpc>
                <a:spcPct val="150000"/>
              </a:lnSpc>
              <a:buNone/>
            </a:pPr>
            <a:endParaRPr lang="en-US" sz="3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二重</a:t>
            </a:r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おいしい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46888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algn="ctr" indent="0" marL="0">
              <a:lnSpc>
                <a:spcPct val="14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</a:t>
            </a:r>
            <a:pPr algn="ctr" indent="0" marL="0">
              <a:lnSpc>
                <a:spcPct val="14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り</a:t>
            </a:r>
            <a:pPr algn="ctr" indent="0" marL="0">
              <a:lnSpc>
                <a:spcPct val="14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lnSpc>
                <a:spcPct val="14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きる。</a:t>
            </a:r>
            <a:pPr algn="ctr" indent="0" marL="0">
              <a:lnSpc>
                <a:spcPct val="140000"/>
              </a:lnSpc>
              <a:buNone/>
            </a:pPr>
            <a:endParaRPr lang="en-US" sz="4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</a:t>
            </a:r>
            <a:pPr algn="ctr" indent="0" marL="0">
              <a:lnSpc>
                <a:spcPct val="14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lnSpc>
                <a:spcPct val="14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違う。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" y="2377440"/>
            <a:ext cx="3840480" cy="280720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2377440"/>
            <a:ext cx="3840480" cy="6126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3840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304495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口座開設して</a:t>
            </a:r>
            <a:endParaRPr lang="en-US" sz="2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積立設定するだけ</a:t>
            </a:r>
            <a:endParaRPr lang="en-US" sz="2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ひとりでOK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937760" y="2377440"/>
            <a:ext cx="3840480" cy="280720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2377440"/>
            <a:ext cx="3840480" cy="6126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377440"/>
            <a:ext cx="3840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937760" y="304495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商品・期間・金額は</a:t>
            </a:r>
            <a:endParaRPr lang="en-US" sz="2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あなたの状況次第</a:t>
            </a:r>
            <a:endParaRPr lang="en-US" sz="2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相談相手が必要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14400" y="5486400"/>
            <a:ext cx="7315200" cy="95097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86400"/>
            <a:ext cx="73152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相談相手、いますか？」</a:t>
            </a:r>
            <a:endParaRPr lang="en-US" sz="2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4688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本日の特典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99032"/>
            <a:ext cx="3840480" cy="42702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99032"/>
            <a:ext cx="384048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99032"/>
            <a:ext cx="3840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特典①　シミュレーター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2130552"/>
            <a:ext cx="3840480" cy="3410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自分の数字で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 vs NISA」を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試せるWebアプリ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hoken-nisa-hikaku.netlify.app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937760" y="1399032"/>
            <a:ext cx="3840480" cy="42702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399032"/>
            <a:ext cx="384048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99032"/>
            <a:ext cx="3840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特典②　個別相談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937760" y="2130552"/>
            <a:ext cx="3840480" cy="3410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あなたの状況で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「どうすればいい？」を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一緒に考えます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無料・30分</a:t>
            </a:r>
            <a:endParaRPr lang="en-US" sz="2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申込フォームをチャットに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14400" y="5971032"/>
            <a:ext cx="7315200" cy="612648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71032"/>
            <a:ext cx="7315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本日はご参加いただき、ありがとうございました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一時払い保険とNISAの賢い使い分け</dc:title>
  <dc:subject>PptxGenJS Presentation</dc:subject>
  <dc:creator>PptxGenJS</dc:creator>
  <cp:lastModifiedBy>PptxGenJS</cp:lastModifiedBy>
  <cp:revision>1</cp:revision>
  <dcterms:created xsi:type="dcterms:W3CDTF">2026-05-02T00:45:03Z</dcterms:created>
  <dcterms:modified xsi:type="dcterms:W3CDTF">2026-05-02T00:45:03Z</dcterms:modified>
</cp:coreProperties>
</file>