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5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60320"/>
            <a:ext cx="9144000" cy="73152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保険か、NISAか。</a:t>
            </a:r>
            <a:pPr algn="ctr" indent="0" marL="0">
              <a:buNone/>
            </a:pP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</a:t>
            </a:r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</a:t>
            </a:r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合う</a:t>
            </a:r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変額保険 × 一時払保険 × NISA</a:t>
            </a:r>
            <a:pPr algn="ctr" indent="0" marL="0">
              <a:buNone/>
            </a:pP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4商品</a:t>
            </a:r>
            <a:pPr algn="ctr" indent="0" marL="0">
              <a:buNone/>
            </a:pPr>
            <a:r>
              <a:rPr lang="en-US" sz="240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ctr" indent="0" marL="0">
              <a:buNone/>
            </a:pPr>
            <a:r>
              <a:rPr lang="en-US" sz="240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algn="ctr" indent="0" marL="0">
              <a:buNone/>
            </a:pPr>
            <a:r>
              <a:rPr lang="en-US" sz="280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さしく比較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FB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Navigation Seminar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ゴール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097280" cy="1097280"/>
          </a:xfrm>
          <a:prstGeom prst="ellipse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737360" y="12344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違い</a:t>
            </a:r>
            <a:pPr algn="l" indent="0" marL="0">
              <a:buNone/>
            </a:pPr>
            <a:r>
              <a:rPr lang="en-US" sz="28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buNone/>
            </a:pPr>
            <a:r>
              <a:rPr lang="en-US" sz="32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わかる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737360" y="18288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4商品</a:t>
            </a:r>
            <a:pPr algn="l" indent="0" marL="0">
              <a:buNone/>
            </a:pPr>
            <a:r>
              <a:rPr lang="en-US" sz="20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buNone/>
            </a:pPr>
            <a:r>
              <a:rPr lang="en-US" sz="24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</a:t>
            </a:r>
            <a:pPr algn="l" indent="0" marL="0">
              <a:buNone/>
            </a:pPr>
            <a:r>
              <a:rPr lang="en-US" sz="20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l" indent="0" marL="0">
              <a:buNone/>
            </a:pPr>
            <a:r>
              <a:rPr lang="en-US" sz="24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</a:t>
            </a:r>
            <a:pPr algn="l" indent="0" marL="0">
              <a:buNone/>
            </a:pPr>
            <a:r>
              <a:rPr lang="en-US" sz="20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buNone/>
            </a:pPr>
            <a:r>
              <a:rPr lang="en-US" sz="24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整理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7200" y="2880360"/>
            <a:ext cx="1097280" cy="1097280"/>
          </a:xfrm>
          <a:prstGeom prst="ellipse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880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1737360" y="29260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選び方</a:t>
            </a:r>
            <a:pPr algn="l" indent="0" marL="0">
              <a:buNone/>
            </a:pPr>
            <a:r>
              <a:rPr lang="en-US" sz="28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buNone/>
            </a:pPr>
            <a:r>
              <a:rPr lang="en-US" sz="32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わかる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1737360" y="3520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</a:t>
            </a:r>
            <a:pPr algn="l" indent="0" marL="0">
              <a:buNone/>
            </a:pPr>
            <a:r>
              <a:rPr lang="en-US" sz="20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l" indent="0" marL="0">
              <a:buNone/>
            </a:pPr>
            <a:r>
              <a:rPr lang="en-US" sz="24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合う組み合わせ</a:t>
            </a:r>
            <a:pPr algn="l" indent="0" marL="0">
              <a:buNone/>
            </a:pPr>
            <a:r>
              <a:rPr lang="en-US" sz="20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buNone/>
            </a:pPr>
            <a:r>
              <a:rPr lang="en-US" sz="24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57200" y="4572000"/>
            <a:ext cx="1097280" cy="1097280"/>
          </a:xfrm>
          <a:prstGeom prst="ellipse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45720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1737360" y="461772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</a:t>
            </a:r>
            <a:pPr algn="l" indent="0" marL="0">
              <a:buNone/>
            </a:pPr>
            <a:r>
              <a:rPr lang="en-US" sz="28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buNone/>
            </a:pPr>
            <a:r>
              <a:rPr lang="en-US" sz="32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一歩</a:t>
            </a:r>
            <a:pPr algn="l" indent="0" marL="0">
              <a:buNone/>
            </a:pPr>
            <a:r>
              <a:rPr lang="en-US" sz="28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buNone/>
            </a:pPr>
            <a:r>
              <a:rPr lang="en-US" sz="32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わかる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737360" y="52120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</a:t>
            </a:r>
            <a:pPr algn="l" indent="0" marL="0">
              <a:buNone/>
            </a:pPr>
            <a:r>
              <a:rPr lang="en-US" sz="20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</a:t>
            </a:r>
            <a:pPr algn="l" indent="0" marL="0">
              <a:buNone/>
            </a:pPr>
            <a:r>
              <a:rPr lang="en-US" sz="24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動ける具体策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こんな悩み、ありませんか？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EFB5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97280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NISA、両方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るべき？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114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EFB5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0" y="1097280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変額保険って結局どうな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？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65760" y="2743200"/>
            <a:ext cx="4114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EFB5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743200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退職金、一括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何か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入れたい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663440" y="2743200"/>
            <a:ext cx="4114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EFB5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2743200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家族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何か残したい気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する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65760" y="4389120"/>
            <a:ext cx="4114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EFB5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389120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したい気持ち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ある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663440" y="4389120"/>
            <a:ext cx="4114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EFB5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4389120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始めれば正解な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？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4商品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ポジショニング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194560" y="3657600"/>
            <a:ext cx="475488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0" y="1280160"/>
            <a:ext cx="0" cy="475488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保障 不要 →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保障 必要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0" y="9144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0" y="61264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毎月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359152" y="457200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59152" y="45720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212080" y="457200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45720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変額保険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359152" y="1901952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B07A0C"/>
          </a:solidFill>
          <a:ln w="12700">
            <a:solidFill>
              <a:srgbClr val="B07A0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59152" y="190195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一時払・貯蓄重視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212080" y="1901952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0" y="190195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一時払・保障重視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変額保険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とは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64008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77240"/>
            <a:ext cx="84124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保障 ＋ 投資 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一本化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・毎月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保険料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株式・債券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など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</a:t>
            </a:r>
            <a:pPr algn="l" indent="0" marL="0">
              <a:spcAft>
                <a:spcPts val="800"/>
              </a:spcAft>
              <a:buNone/>
            </a:pPr>
            <a:endParaRPr lang="en-US" sz="2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・運用成績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死亡保険金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解約返戻金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変動</a:t>
            </a:r>
            <a:pPr algn="l" indent="0" marL="0">
              <a:spcAft>
                <a:spcPts val="800"/>
              </a:spcAft>
              <a:buNone/>
            </a:pPr>
            <a:endParaRPr lang="en-US" sz="2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・死亡保険金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最低保証あり（基本保険金額）</a:t>
            </a:r>
            <a:pPr algn="l" indent="0" marL="0">
              <a:spcAft>
                <a:spcPts val="800"/>
              </a:spcAft>
              <a:buNone/>
            </a:pPr>
            <a:endParaRPr lang="en-US" sz="2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・運用益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非課税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再投資される</a:t>
            </a:r>
            <a:pPr algn="l" indent="0" marL="0">
              <a:spcAft>
                <a:spcPts val="800"/>
              </a:spcAft>
              <a:buNone/>
            </a:pPr>
            <a:endParaRPr lang="en-US" sz="2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・解約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原則 長期前提（10年以上）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5486400"/>
            <a:ext cx="8412480" cy="548640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5486400"/>
            <a:ext cx="8412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長期 ＋ 保障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 な人 向け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一時払い保険（貯蓄重視）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64008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77240"/>
            <a:ext cx="84124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まった資金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安全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置く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・契約時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保険料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一括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支払う</a:t>
            </a:r>
            <a:pPr algn="l" indent="0" marL="0">
              <a:spcAft>
                <a:spcPts val="800"/>
              </a:spcAft>
              <a:buNone/>
            </a:pPr>
            <a:endParaRPr lang="en-US" sz="2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・予定利率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為替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運用（外貨建て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主流）</a:t>
            </a:r>
            <a:pPr algn="l" indent="0" marL="0">
              <a:spcAft>
                <a:spcPts val="800"/>
              </a:spcAft>
              <a:buNone/>
            </a:pPr>
            <a:endParaRPr lang="en-US" sz="2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・死亡保険金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払込額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同程度〜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</a:t>
            </a:r>
            <a:pPr algn="l" indent="0" marL="0">
              <a:spcAft>
                <a:spcPts val="800"/>
              </a:spcAft>
              <a:buNone/>
            </a:pPr>
            <a:endParaRPr lang="en-US" sz="2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・据置期間後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元本＋利息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受取可能</a:t>
            </a:r>
            <a:pPr algn="l" indent="0" marL="0">
              <a:spcAft>
                <a:spcPts val="800"/>
              </a:spcAft>
              <a:buNone/>
            </a:pPr>
            <a:endParaRPr lang="en-US" sz="2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・短期解約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元本割れリスクあり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5486400"/>
            <a:ext cx="8412480" cy="548640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5486400"/>
            <a:ext cx="8412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退職金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など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ま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まった資金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運用先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一時払い保険（保障重視）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64008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77240"/>
            <a:ext cx="84124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まった資金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保障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大きく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・一括払い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死亡保険金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払込額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1.3〜2倍</a:t>
            </a:r>
            <a:pPr algn="l" indent="0" marL="0">
              <a:spcAft>
                <a:spcPts val="800"/>
              </a:spcAft>
              <a:buNone/>
            </a:pPr>
            <a:endParaRPr lang="en-US" sz="2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・相続対策・受取人指定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柔軟性</a:t>
            </a:r>
            <a:pPr algn="l" indent="0" marL="0">
              <a:spcAft>
                <a:spcPts val="800"/>
              </a:spcAft>
              <a:buNone/>
            </a:pPr>
            <a:endParaRPr lang="en-US" sz="2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・健康状態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緩め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ある</a:t>
            </a:r>
            <a:pPr algn="l" indent="0" marL="0">
              <a:spcAft>
                <a:spcPts val="800"/>
              </a:spcAft>
              <a:buNone/>
            </a:pPr>
            <a:endParaRPr lang="en-US" sz="2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・運用益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より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「残す」目的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</a:t>
            </a:r>
            <a:pPr algn="l" indent="0" marL="0">
              <a:spcAft>
                <a:spcPts val="800"/>
              </a:spcAft>
              <a:buNone/>
            </a:pPr>
            <a:endParaRPr lang="en-US" sz="2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・解約返戻金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払込額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より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少ない期間あり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5486400"/>
            <a:ext cx="8412480" cy="548640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5486400"/>
            <a:ext cx="8412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相続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家族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へ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残したい 人 向け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とは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64008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77240"/>
            <a:ext cx="84124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運用益 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ずっ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非課税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・つみたて投資枠：年120万円・長期インデックス向け</a:t>
            </a:r>
            <a:pPr algn="l" indent="0" marL="0">
              <a:spcAft>
                <a:spcPts val="800"/>
              </a:spcAft>
              <a:buNone/>
            </a:pPr>
            <a:endParaRPr lang="en-US" sz="2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・成長投資枠：年240万円・個別株・ETF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可</a:t>
            </a:r>
            <a:pPr algn="l" indent="0" marL="0">
              <a:spcAft>
                <a:spcPts val="800"/>
              </a:spcAft>
              <a:buNone/>
            </a:pPr>
            <a:endParaRPr lang="en-US" sz="2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・生涯非課税枠 1,800万円（売却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枠復活）</a:t>
            </a:r>
            <a:pPr algn="l" indent="0" marL="0">
              <a:spcAft>
                <a:spcPts val="800"/>
              </a:spcAft>
              <a:buNone/>
            </a:pPr>
            <a:endParaRPr lang="en-US" sz="2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・運用益・配当</a:t>
            </a:r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非課税</a:t>
            </a:r>
            <a:pPr algn="l" indent="0" marL="0">
              <a:spcAft>
                <a:spcPts val="800"/>
              </a:spcAft>
              <a:buNone/>
            </a:pPr>
            <a:endParaRPr lang="en-US" sz="2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・保障機能 なし（純粋な投資制度）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5486400"/>
            <a:ext cx="8412480" cy="548640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5486400"/>
            <a:ext cx="8412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長期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増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したい 人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王道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4商品ま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め比較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057400" cy="50292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144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変額保険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0040" y="1417320"/>
            <a:ext cx="2057400" cy="3383280"/>
          </a:xfrm>
          <a:prstGeom prst="rect">
            <a:avLst/>
          </a:prstGeom>
          <a:solidFill>
            <a:srgbClr val="E1EAF7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08760"/>
            <a:ext cx="187452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【支払】毎月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【保障】◎ 最低保証あり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【運用】株式中心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【流動性】△ 長期前提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【税】保険料控除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【向く人】保障＋投資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両取り したい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468880" y="914400"/>
            <a:ext cx="2057400" cy="502920"/>
          </a:xfrm>
          <a:prstGeom prst="rect">
            <a:avLst/>
          </a:prstGeom>
          <a:solidFill>
            <a:srgbClr val="B07A0C"/>
          </a:solidFill>
          <a:ln w="12700">
            <a:solidFill>
              <a:srgbClr val="B07A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9144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一時払（貯蓄）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2468880" y="1417320"/>
            <a:ext cx="2057400" cy="3383280"/>
          </a:xfrm>
          <a:prstGeom prst="rect">
            <a:avLst/>
          </a:prstGeom>
          <a:solidFill>
            <a:srgbClr val="F4DDA1"/>
          </a:solidFill>
          <a:ln w="12700">
            <a:solidFill>
              <a:srgbClr val="B07A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1508760"/>
            <a:ext cx="187452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【支払】一括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【保障】△ 払込額相当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【運用】予定利率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【流動性】△ 据置あり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【税】満期</a:t>
            </a:r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課税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【向く人】退職金 </a:t>
            </a:r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 </a:t>
            </a:r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運用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617720" y="914400"/>
            <a:ext cx="20574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9144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一時払（保障）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617720" y="1417320"/>
            <a:ext cx="2057400" cy="3383280"/>
          </a:xfrm>
          <a:prstGeom prst="rect">
            <a:avLst/>
          </a:prstGeom>
          <a:solidFill>
            <a:srgbClr val="D9E2EC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1508760"/>
            <a:ext cx="187452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【支払】一括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【保障】◎ 1.3〜2倍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【運用】少なめ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【流動性】△ 長期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【税】相続税</a:t>
            </a:r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非課税枠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【向く人】相続・残し たい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766560" y="914400"/>
            <a:ext cx="2057400" cy="502920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0" y="9144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766560" y="1417320"/>
            <a:ext cx="2057400" cy="3383280"/>
          </a:xfrm>
          <a:prstGeom prst="rect">
            <a:avLst/>
          </a:prstGeom>
          <a:solidFill>
            <a:srgbClr val="FFF3C2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0" y="1508760"/>
            <a:ext cx="187452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【支払】毎月／自由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【保障】× なし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【運用】株式・投信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【流動性】◎ いつ</a:t>
            </a:r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【税】運用益 非課税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【向く人】長期 </a:t>
            </a:r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純粋</a:t>
            </a:r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l" indent="0" marL="0">
              <a:spcAft>
                <a:spcPts val="400"/>
              </a:spcAft>
              <a:buNone/>
            </a:pPr>
            <a:endParaRPr lang="en-US" sz="2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</a:t>
            </a:r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 たい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365760" y="5394960"/>
            <a:ext cx="8412480" cy="64008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5394960"/>
            <a:ext cx="84124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「守る」 か 「増</a:t>
            </a:r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す」 か、 軸 </a:t>
            </a:r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決める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選び方フロー：3つ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Q1. 保障 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必要？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Q2. 一括 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払える資金 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ある？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57200" y="45720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5720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Q3. 値動き（ブレ） 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許容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きる？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297680" y="2377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297680" y="4114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457200" y="6035040"/>
            <a:ext cx="8229600" cy="41148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03504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3問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4商品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どれか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絞り込める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27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比較①：変額保険 vs NISA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7315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77240"/>
            <a:ext cx="84124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判断軸：保障 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必要 か どうか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4160520" cy="54864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916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変額保険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65760" y="2240280"/>
            <a:ext cx="41605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6FA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331720"/>
            <a:ext cx="388620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死亡保障 あり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万一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家族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お金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強制的 な 長期積立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途中解約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不利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投資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保険会社経由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コスト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高め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617720" y="1691640"/>
            <a:ext cx="4160520" cy="548640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6916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617720" y="2240280"/>
            <a:ext cx="41605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FB5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331720"/>
            <a:ext cx="388620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保障 なし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自分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死ぬ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残るだけ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いつ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売却可能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流動性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高い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コスト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低い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増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 効率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良い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27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比較①：結論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家族 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残す必要 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あるなら 変額</a:t>
            </a:r>
            <a:pPr algn="ctr" indent="0" marL="0">
              <a:buNone/>
            </a:pP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そう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ないなら NISA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804672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・小さい子・配偶者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いる → 変額（保障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安心）</a:t>
            </a:r>
            <a:pPr algn="l" indent="0" marL="0">
              <a:spcAft>
                <a:spcPts val="1000"/>
              </a:spcAft>
              <a:buNone/>
            </a:pP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・独身・子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独立済み → NISA（コスト効率優先）</a:t>
            </a:r>
            <a:pPr algn="l" indent="0" marL="0">
              <a:spcAft>
                <a:spcPts val="1000"/>
              </a:spcAft>
              <a:buNone/>
            </a:pP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・「両方欲しい」場合 → 掛捨て＋NISA 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選択肢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5577840"/>
            <a:ext cx="8412480" cy="54864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5577840"/>
            <a:ext cx="8412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保障 ＝ 変額  /  効率 ＝ NISA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27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比較②：一時払(保障) vs 変額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7315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77240"/>
            <a:ext cx="84124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保障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必要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決めた人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選択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4160520" cy="54864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916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一時払・保障重視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65760" y="2240280"/>
            <a:ext cx="41605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625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331720"/>
            <a:ext cx="388620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一括払い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ま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まった資金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必要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保障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払込額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1.3〜2倍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相続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大きく 残せる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運用益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控えめ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「残す」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主目的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617720" y="1691640"/>
            <a:ext cx="4160520" cy="54864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6916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変額保険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617720" y="2240280"/>
            <a:ext cx="41605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6F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331720"/>
            <a:ext cx="388620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毎月払い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現役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始められる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保障 ＋ 値上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り益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長期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育てる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解約返戻金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変動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投資 リスクあり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27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比較②：結論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一括資金 ＋ 相続 → 一時払(保障)</a:t>
            </a:r>
            <a:pPr algn="ctr" indent="0" marL="0">
              <a:buNone/>
            </a:pP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毎月 ＋ 育てる → 変額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804672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・退職金・相続資金 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ある → 一時払（保障）</a:t>
            </a:r>
            <a:pPr algn="l" indent="0" marL="0">
              <a:spcAft>
                <a:spcPts val="1000"/>
              </a:spcAft>
              <a:buNone/>
            </a:pP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・現役世代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コツコツ → 変額</a:t>
            </a:r>
            <a:pPr algn="l" indent="0" marL="0">
              <a:spcAft>
                <a:spcPts val="1000"/>
              </a:spcAft>
              <a:buNone/>
            </a:pP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・税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観点：一時払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相続税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非課税枠 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強み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5577840"/>
            <a:ext cx="8412480" cy="54864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5577840"/>
            <a:ext cx="8412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一括 ＝ 一時払  /  毎月 ＝ 変額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27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比較③：支払方法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選ぶ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7315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77240"/>
            <a:ext cx="84124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判断軸：一括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払える資金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ある か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4160520" cy="54864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916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一括 </a:t>
            </a:r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払える 場合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65760" y="2240280"/>
            <a:ext cx="41605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625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331720"/>
            <a:ext cx="388620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一時払・保障重視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・効率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良い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・相続税 非課税枠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使える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・運用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保険会社 任せ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・短期解約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不利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617720" y="1691640"/>
            <a:ext cx="4160520" cy="54864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6916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毎月払い </a:t>
            </a:r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きない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617720" y="2240280"/>
            <a:ext cx="41605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6F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331720"/>
            <a:ext cx="388620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変額保険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・少額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始められる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・時間分散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リスク低減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・長期保有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前提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・途中解約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注意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27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比較③：結論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 </a:t>
            </a:r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あれば 一時払 </a:t>
            </a:r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効率的</a:t>
            </a:r>
            <a:pPr algn="ctr" indent="0" marL="0">
              <a:buNone/>
            </a:pP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無ければ 変額 </a:t>
            </a:r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時間分散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804672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・1,000万円以上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余裕資金 → 一時払（保障）</a:t>
            </a:r>
            <a:pPr algn="l" indent="0" marL="0">
              <a:spcAft>
                <a:spcPts val="1000"/>
              </a:spcAft>
              <a:buNone/>
            </a:pP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・現役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月3〜5万円 → 変額</a:t>
            </a:r>
            <a:pPr algn="l" indent="0" marL="0">
              <a:spcAft>
                <a:spcPts val="1000"/>
              </a:spcAft>
              <a:buNone/>
            </a:pP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・「半分一時払・半分NISA」 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など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併用 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有効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5577840"/>
            <a:ext cx="8412480" cy="54864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5577840"/>
            <a:ext cx="8412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資金力 </a:t>
            </a:r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支払方法 </a:t>
            </a:r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決める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27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比較④：一時払(貯蓄) vs NISA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7315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77240"/>
            <a:ext cx="84124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判断軸：値動き（ブレ） 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どう 捉える か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4160520" cy="548640"/>
          </a:xfrm>
          <a:prstGeom prst="rect">
            <a:avLst/>
          </a:prstGeom>
          <a:solidFill>
            <a:srgbClr val="B07A0C"/>
          </a:solidFill>
          <a:ln w="12700">
            <a:solidFill>
              <a:srgbClr val="B07A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916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一時払・貯蓄重視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65760" y="2240280"/>
            <a:ext cx="41605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B07A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331720"/>
            <a:ext cx="388620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予定利率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安定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結果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読める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ブレ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小さい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元本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守る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期待リターン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控えめ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大きく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増えない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為替リスク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あり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617720" y="1691640"/>
            <a:ext cx="4160520" cy="548640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6916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617720" y="2240280"/>
            <a:ext cx="41605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FB5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331720"/>
            <a:ext cx="388620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値動き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大きい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増える 可能性 大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短期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元本割れ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心臓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悪い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長期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平均化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20年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プラス確率 高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流動性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抜群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比較④：結論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ブレ 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怖い → 一時払(貯蓄)</a:t>
            </a:r>
            <a:pPr algn="ctr" indent="0" marL="0">
              <a:buNone/>
            </a:pP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ブレ 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期待 → NISA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804672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・60代以降・取り崩し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近い → 一時払（貯蓄）</a:t>
            </a:r>
            <a:pPr algn="l" indent="0" marL="0">
              <a:spcAft>
                <a:spcPts val="1000"/>
              </a:spcAft>
              <a:buNone/>
            </a:pP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・40〜50代・長期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 → NISA</a:t>
            </a:r>
            <a:pPr algn="l" indent="0" marL="0">
              <a:spcAft>
                <a:spcPts val="1000"/>
              </a:spcAft>
              <a:buNone/>
            </a:pP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・「半分ずつ」 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ブレ 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平均化 する 手 </a:t>
            </a:r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5577840"/>
            <a:ext cx="8412480" cy="54864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5577840"/>
            <a:ext cx="8412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安定 ＝ 一時払(貯蓄)  /  期待 ＝ NISA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数字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比べてみよう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 シミュレーター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条件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入力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804672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・月額 ／ 一括 金額 </a:t>
            </a:r>
            <a:pPr algn="l"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入力</a:t>
            </a:r>
            <a:pPr algn="l" indent="0" marL="0">
              <a:spcAft>
                <a:spcPts val="1200"/>
              </a:spcAft>
              <a:buNone/>
            </a:pPr>
            <a:endParaRPr lang="en-US" sz="24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・想定利回り </a:t>
            </a:r>
            <a:pPr algn="l"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商品別 </a:t>
            </a:r>
            <a:pPr algn="l"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設定</a:t>
            </a:r>
            <a:pPr algn="l" indent="0" marL="0">
              <a:spcAft>
                <a:spcPts val="1200"/>
              </a:spcAft>
              <a:buNone/>
            </a:pPr>
            <a:endParaRPr lang="en-US" sz="24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・10年・20年・30年 </a:t>
            </a:r>
            <a:pPr algn="l"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推移 </a:t>
            </a:r>
            <a:pPr algn="l"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比較</a:t>
            </a:r>
            <a:pPr algn="l" indent="0" marL="0">
              <a:spcAft>
                <a:spcPts val="1200"/>
              </a:spcAft>
              <a:buNone/>
            </a:pPr>
            <a:endParaRPr lang="en-US" sz="24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・税金 </a:t>
            </a:r>
            <a:pPr algn="l"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手数料 込み </a:t>
            </a:r>
            <a:pPr algn="l"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手取り 表示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5486400"/>
            <a:ext cx="8412480" cy="54864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5486400"/>
            <a:ext cx="8412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配布 URL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</a:t>
            </a:r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アクセス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27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数値例：月3万円 × 20年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828800" cy="54864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97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194560" y="1097280"/>
            <a:ext cx="1463040" cy="54864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94560" y="10972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元本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657600" y="1097280"/>
            <a:ext cx="1645920" cy="54864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1097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想定利回り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303520" y="1097280"/>
            <a:ext cx="3474720" cy="54864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0" y="10972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20年後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65760" y="1645920"/>
            <a:ext cx="1828800" cy="777240"/>
          </a:xfrm>
          <a:prstGeom prst="rect">
            <a:avLst/>
          </a:prstGeom>
          <a:solidFill>
            <a:srgbClr val="E1EAF7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645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変額保険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194560" y="1645920"/>
            <a:ext cx="1463040" cy="777240"/>
          </a:xfrm>
          <a:prstGeom prst="rect">
            <a:avLst/>
          </a:prstGeom>
          <a:solidFill>
            <a:srgbClr val="E1EAF7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16459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720万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3657600" y="1645920"/>
            <a:ext cx="1645920" cy="777240"/>
          </a:xfrm>
          <a:prstGeom prst="rect">
            <a:avLst/>
          </a:prstGeom>
          <a:solidFill>
            <a:srgbClr val="E1EAF7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16459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4%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0" y="1645920"/>
            <a:ext cx="3474720" cy="777240"/>
          </a:xfrm>
          <a:prstGeom prst="rect">
            <a:avLst/>
          </a:prstGeom>
          <a:solidFill>
            <a:srgbClr val="E1EAF7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0" y="16459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約1,100万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365760" y="2423160"/>
            <a:ext cx="1828800" cy="777240"/>
          </a:xfrm>
          <a:prstGeom prst="rect">
            <a:avLst/>
          </a:prstGeom>
          <a:solidFill>
            <a:srgbClr val="F4DDA1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423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一時払(貯蓄)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2194560" y="2423160"/>
            <a:ext cx="1463040" cy="777240"/>
          </a:xfrm>
          <a:prstGeom prst="rect">
            <a:avLst/>
          </a:prstGeom>
          <a:solidFill>
            <a:srgbClr val="F4DDA1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94560" y="242316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一括720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3657600" y="2423160"/>
            <a:ext cx="1645920" cy="777240"/>
          </a:xfrm>
          <a:prstGeom prst="rect">
            <a:avLst/>
          </a:prstGeom>
          <a:solidFill>
            <a:srgbClr val="F4DDA1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242316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3%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5303520" y="2423160"/>
            <a:ext cx="3474720" cy="777240"/>
          </a:xfrm>
          <a:prstGeom prst="rect">
            <a:avLst/>
          </a:prstGeom>
          <a:solidFill>
            <a:srgbClr val="F4DDA1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0" y="242316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約1,300万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365760" y="3200400"/>
            <a:ext cx="1828800" cy="777240"/>
          </a:xfrm>
          <a:prstGeom prst="rect">
            <a:avLst/>
          </a:prstGeom>
          <a:solidFill>
            <a:srgbClr val="D9E2EC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004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一時払(保障)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2194560" y="3200400"/>
            <a:ext cx="1463040" cy="777240"/>
          </a:xfrm>
          <a:prstGeom prst="rect">
            <a:avLst/>
          </a:prstGeom>
          <a:solidFill>
            <a:srgbClr val="D9E2EC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94560" y="32004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一括720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3657600" y="3200400"/>
            <a:ext cx="1645920" cy="777240"/>
          </a:xfrm>
          <a:prstGeom prst="rect">
            <a:avLst/>
          </a:prstGeom>
          <a:solidFill>
            <a:srgbClr val="D9E2EC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0" y="32004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2%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5303520" y="3200400"/>
            <a:ext cx="3474720" cy="777240"/>
          </a:xfrm>
          <a:prstGeom prst="rect">
            <a:avLst/>
          </a:prstGeom>
          <a:solidFill>
            <a:srgbClr val="D9E2EC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03520" y="32004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約1,070万＋保障1,500万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365760" y="3977640"/>
            <a:ext cx="1828800" cy="777240"/>
          </a:xfrm>
          <a:prstGeom prst="rect">
            <a:avLst/>
          </a:prstGeom>
          <a:solidFill>
            <a:srgbClr val="FFF3C2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9776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endParaRPr lang="en-US" sz="2400" dirty="0"/>
          </a:p>
        </p:txBody>
      </p:sp>
      <p:sp>
        <p:nvSpPr>
          <p:cNvPr id="38" name="Shape 36"/>
          <p:cNvSpPr/>
          <p:nvPr/>
        </p:nvSpPr>
        <p:spPr>
          <a:xfrm>
            <a:off x="2194560" y="3977640"/>
            <a:ext cx="1463040" cy="777240"/>
          </a:xfrm>
          <a:prstGeom prst="rect">
            <a:avLst/>
          </a:prstGeom>
          <a:solidFill>
            <a:srgbClr val="FFF3C2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94560" y="397764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720万</a:t>
            </a:r>
            <a:endParaRPr lang="en-US" sz="2400" dirty="0"/>
          </a:p>
        </p:txBody>
      </p:sp>
      <p:sp>
        <p:nvSpPr>
          <p:cNvPr id="40" name="Shape 38"/>
          <p:cNvSpPr/>
          <p:nvPr/>
        </p:nvSpPr>
        <p:spPr>
          <a:xfrm>
            <a:off x="3657600" y="3977640"/>
            <a:ext cx="1645920" cy="777240"/>
          </a:xfrm>
          <a:prstGeom prst="rect">
            <a:avLst/>
          </a:prstGeom>
          <a:solidFill>
            <a:srgbClr val="FFF3C2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0" y="3977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5%</a:t>
            </a:r>
            <a:endParaRPr lang="en-US" sz="2400" dirty="0"/>
          </a:p>
        </p:txBody>
      </p:sp>
      <p:sp>
        <p:nvSpPr>
          <p:cNvPr id="42" name="Shape 40"/>
          <p:cNvSpPr/>
          <p:nvPr/>
        </p:nvSpPr>
        <p:spPr>
          <a:xfrm>
            <a:off x="5303520" y="3977640"/>
            <a:ext cx="3474720" cy="777240"/>
          </a:xfrm>
          <a:prstGeom prst="rect">
            <a:avLst/>
          </a:prstGeom>
          <a:solidFill>
            <a:srgbClr val="FFF3C2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03520" y="39776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約1,230万</a:t>
            </a:r>
            <a:endParaRPr lang="en-US" sz="2400" dirty="0"/>
          </a:p>
        </p:txBody>
      </p:sp>
      <p:sp>
        <p:nvSpPr>
          <p:cNvPr id="44" name="Shape 42"/>
          <p:cNvSpPr/>
          <p:nvPr/>
        </p:nvSpPr>
        <p:spPr>
          <a:xfrm>
            <a:off x="365760" y="5760720"/>
            <a:ext cx="8412480" cy="502920"/>
          </a:xfrm>
          <a:prstGeom prst="rect">
            <a:avLst/>
          </a:prstGeom>
          <a:solidFill>
            <a:srgbClr val="4A5568"/>
          </a:solidFill>
          <a:ln w="12700">
            <a:solidFill>
              <a:srgbClr val="4A556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5760720"/>
            <a:ext cx="84124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想定値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す。 実際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市場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変動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27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ケース別 早見表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206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30代・小さい子あり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0" y="914400"/>
            <a:ext cx="4206240" cy="77724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0" y="9144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変額 ＋ NISA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65760" y="1783080"/>
            <a:ext cx="4206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78308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40代・住宅ローン中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2000" y="1783080"/>
            <a:ext cx="4206240" cy="777240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830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掛捨て ＋ NISA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65760" y="2651760"/>
            <a:ext cx="4206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517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50代・教育費 落着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572000" y="2651760"/>
            <a:ext cx="4206240" cy="77724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265176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変額 増額 ＋ NISA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365760" y="3520440"/>
            <a:ext cx="4206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52044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60代・退職金 受領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72000" y="3520440"/>
            <a:ext cx="4206240" cy="777240"/>
          </a:xfrm>
          <a:prstGeom prst="rect">
            <a:avLst/>
          </a:prstGeom>
          <a:solidFill>
            <a:srgbClr val="B07A0C"/>
          </a:solidFill>
          <a:ln w="12700">
            <a:solidFill>
              <a:srgbClr val="B07A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0" y="35204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一時払(貯蓄) ＋ NISA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365760" y="4389120"/>
            <a:ext cx="4206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3891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70代・相続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意識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572000" y="4389120"/>
            <a:ext cx="4206240" cy="77724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3891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一時払(保障)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365760" y="5257800"/>
            <a:ext cx="4206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52578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独身・保障 不要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4572000" y="5257800"/>
            <a:ext cx="4206240" cy="777240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0" y="52578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 フル活用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27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追加比較：変額 vs 一時払(貯蓄)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7315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77240"/>
            <a:ext cx="84124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保障 不要 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場合 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投資手段 選択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4160520" cy="54864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916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変額保険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65760" y="2240280"/>
            <a:ext cx="41605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6FA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331720"/>
            <a:ext cx="388620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毎月 ＋ 株式運用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長期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上昇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取り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行く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保障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ついてくる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ただし 「不要」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前提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617720" y="1691640"/>
            <a:ext cx="4160520" cy="548640"/>
          </a:xfrm>
          <a:prstGeom prst="rect">
            <a:avLst/>
          </a:prstGeom>
          <a:solidFill>
            <a:srgbClr val="B07A0C"/>
          </a:solidFill>
          <a:ln w="12700">
            <a:solidFill>
              <a:srgbClr val="B07A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6916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一時払(貯蓄)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617720" y="2240280"/>
            <a:ext cx="41605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B07A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331720"/>
            <a:ext cx="388620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一括 ＋ 利率固定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結果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読める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為替・据置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注意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短期解約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不利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365760" y="5577840"/>
            <a:ext cx="8412480" cy="548640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5577840"/>
            <a:ext cx="8412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保障 不要 なら NISA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第一候補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27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相続対策：一時払(保障) vs 一時払(貯蓄)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7315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77240"/>
            <a:ext cx="84124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判断軸：残す か 自分 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使う か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4160520" cy="54864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916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一時払・保障重視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65760" y="2240280"/>
            <a:ext cx="41605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625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331720"/>
            <a:ext cx="388620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死亡保険金 1.3〜2倍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大きく 残せる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生命保険 非課税枠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500万 × 法定相続人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受取人指定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自由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617720" y="1691640"/>
            <a:ext cx="4160520" cy="548640"/>
          </a:xfrm>
          <a:prstGeom prst="rect">
            <a:avLst/>
          </a:prstGeom>
          <a:solidFill>
            <a:srgbClr val="B07A0C"/>
          </a:solidFill>
          <a:ln w="12700">
            <a:solidFill>
              <a:srgbClr val="B07A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6916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一時払・貯蓄重視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617720" y="2240280"/>
            <a:ext cx="41605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B07A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331720"/>
            <a:ext cx="388620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自分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受取 前提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老後資金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使う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死亡保険金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払込相当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相続効果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限定的</a:t>
            </a:r>
            <a:pPr algn="l" indent="0" marL="0">
              <a:spcAft>
                <a:spcPts val="600"/>
              </a:spcAft>
              <a:buNone/>
            </a:pP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解約 </a:t>
            </a:r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取り戻せる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365760" y="5577840"/>
            <a:ext cx="8412480" cy="548640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5577840"/>
            <a:ext cx="8412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残す ＝ 保障重視  /  使う ＝ 貯蓄重視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27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組み合わせ戦略：3つ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NISA ＋ 掛捨て保険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554480"/>
            <a:ext cx="84124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EFB5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54480"/>
            <a:ext cx="82296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効率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保障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別々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確保</a:t>
            </a:r>
            <a:pPr algn="l" indent="0" marL="0">
              <a:buNone/>
            </a:pP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コスト最小 ・ 自由度 最大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65760" y="2697480"/>
            <a:ext cx="8412480" cy="54864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6974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NISA ＋ 変額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65760" y="3246120"/>
            <a:ext cx="84124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4A6F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246120"/>
            <a:ext cx="82296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 ＋ 強制積立 ＋ 保障</a:t>
            </a:r>
            <a:pPr algn="l" indent="0" marL="0">
              <a:buNone/>
            </a:pP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投資慣れ してきた 人 向け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65760" y="4389120"/>
            <a:ext cx="8412480" cy="548640"/>
          </a:xfrm>
          <a:prstGeom prst="rect">
            <a:avLst/>
          </a:prstGeom>
          <a:solidFill>
            <a:srgbClr val="B07A0C"/>
          </a:solidFill>
          <a:ln w="12700">
            <a:solidFill>
              <a:srgbClr val="B07A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43891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一時払(貯蓄) ＋ NISA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365760" y="4937760"/>
            <a:ext cx="84124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B07A0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937760"/>
            <a:ext cx="82296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退職金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半分 安定 ／ 半分 成長</a:t>
            </a:r>
            <a:pPr algn="l" indent="0" marL="0">
              <a:buNone/>
            </a:pP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60代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王道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365760" y="6126480"/>
            <a:ext cx="8412480" cy="45720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6126480"/>
            <a:ext cx="84124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一本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なく 組み合わせ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弱点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補う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27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よくある質問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Q. 変額保険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元本割れしますか？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します。 ただし 死亡保険金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最低保証 あり。 解約返戻金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変動。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21488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Q. NISAだけ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保障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足りますか？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扶養家族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いる場合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別途 掛捨て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推奨。 NISA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投資制度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保障 なし。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65760" y="35204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Q. 一時払い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いつ 受け取れますか？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商品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より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据置3〜10年。 期間内 解約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元本割れ リスク。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65760" y="48920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Q. 全部 同時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始めて いい？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48640" y="5349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可。 ただし 家計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目的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整理 して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 個別相談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推奨。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27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625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9144000" cy="54864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「保険 か NISA か」 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二択 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終わらない</a:t>
            </a:r>
            <a:pPr algn="ctr" indent="0" marL="0">
              <a:buNone/>
            </a:pP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 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合う 組み合わせ 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 「保障 </a:t>
            </a:r>
            <a:pPr algn="ctr" indent="0" marL="0">
              <a:buNone/>
            </a:pPr>
            <a:r>
              <a:rPr lang="en-US" sz="200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</a:t>
            </a:r>
            <a:pPr algn="ctr" indent="0" marL="0">
              <a:buNone/>
            </a:pPr>
            <a:r>
              <a:rPr lang="en-US" sz="240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必要 か」 </a:t>
            </a:r>
            <a:pPr algn="ctr" indent="0" marL="0">
              <a:buNone/>
            </a:pPr>
            <a:r>
              <a:rPr lang="en-US" sz="200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</a:t>
            </a:r>
            <a:pPr algn="ctr" indent="0" marL="0">
              <a:buNone/>
            </a:pPr>
            <a:r>
              <a:rPr lang="en-US" sz="2400" dirty="0">
                <a:solidFill>
                  <a:srgbClr val="CBD5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決めましょう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EFB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for joining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6253D"/>
          </a:solidFill>
          <a:ln w="12700">
            <a:solidFill>
              <a:srgbClr val="1625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個別相談・特典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ご案内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本日参加 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方 限定</a:t>
            </a:r>
            <a:pPr algn="ctr" indent="0" marL="0">
              <a:buNone/>
            </a:pP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無料 個別相談 60分 プレゼント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あなた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家計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目的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ヒアリング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4商品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中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最適 な 組み合わせ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提案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シミュレーター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数字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確認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強引 な 勧誘 </a:t>
            </a:r>
            <a:pPr algn="l" indent="0" marL="0">
              <a:buNone/>
            </a:pPr>
            <a:r>
              <a:rPr lang="en-US" sz="20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l" indent="0" marL="0">
              <a:buNone/>
            </a:pPr>
            <a:r>
              <a:rPr lang="en-US" sz="2400" b="1" dirty="0">
                <a:solidFill>
                  <a:srgbClr val="1625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一切 ありません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65760" y="4937760"/>
            <a:ext cx="8412480" cy="731520"/>
          </a:xfrm>
          <a:prstGeom prst="rect">
            <a:avLst/>
          </a:prstGeom>
          <a:solidFill>
            <a:srgbClr val="EFB509"/>
          </a:solidFill>
          <a:ln w="12700">
            <a:solidFill>
              <a:srgbClr val="EFB5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937760"/>
            <a:ext cx="84124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お申込み 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受付 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QR 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Navigation Seminar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5836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27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変額・一時払保険・NISA 比較セミナー</dc:title>
  <dc:subject>PptxGenJS Presentation</dc:subject>
  <dc:creator>PptxGenJS</dc:creator>
  <cp:lastModifiedBy>PptxGenJS</cp:lastModifiedBy>
  <cp:revision>1</cp:revision>
  <dcterms:created xsi:type="dcterms:W3CDTF">2026-05-02T17:51:07Z</dcterms:created>
  <dcterms:modified xsi:type="dcterms:W3CDTF">2026-05-02T17:51:07Z</dcterms:modified>
</cp:coreProperties>
</file>